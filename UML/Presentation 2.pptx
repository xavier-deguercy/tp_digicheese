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1EA19-2F19-46D1-BE84-4FB01D514765}" v="782" dt="2026-01-12T15:34:22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8B422-6CF0-469C-A3FC-B5F6890BD70B}" type="datetimeFigureOut">
              <a:t>12/01/2026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B0C96-F28B-47D0-B27F-41EB708C5A1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77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Rester</a:t>
            </a:r>
            <a:r>
              <a:rPr lang="en-US" dirty="0">
                <a:ea typeface="Calibri"/>
                <a:cs typeface="Calibri"/>
              </a:rPr>
              <a:t> macro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B0C96-F28B-47D0-B27F-41EB708C5A1A}" type="slidenum"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49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@startuml</a:t>
            </a:r>
            <a:endParaRPr lang="fr-FR"/>
          </a:p>
          <a:p>
            <a:r>
              <a:rPr lang="en-US"/>
              <a:t>left to right direction</a:t>
            </a:r>
            <a:endParaRPr lang="fr-FR"/>
          </a:p>
          <a:p>
            <a:r>
              <a:rPr lang="en-US" err="1"/>
              <a:t>skinparam</a:t>
            </a:r>
            <a:r>
              <a:rPr lang="en-US"/>
              <a:t> </a:t>
            </a:r>
            <a:r>
              <a:rPr lang="en-US" err="1"/>
              <a:t>componentStyle</a:t>
            </a:r>
            <a:r>
              <a:rPr lang="en-US"/>
              <a:t> rectangle</a:t>
            </a:r>
            <a:endParaRPr lang="fr-FR"/>
          </a:p>
          <a:p>
            <a:r>
              <a:rPr lang="en-US" err="1"/>
              <a:t>skinparam</a:t>
            </a:r>
            <a:r>
              <a:rPr lang="en-US"/>
              <a:t> shadowing false</a:t>
            </a:r>
            <a:endParaRPr lang="fr-FR"/>
          </a:p>
          <a:p>
            <a:r>
              <a:rPr lang="en-US" dirty="0" err="1"/>
              <a:t>skinparam</a:t>
            </a:r>
            <a:r>
              <a:rPr lang="en-US" dirty="0"/>
              <a:t> </a:t>
            </a:r>
            <a:r>
              <a:rPr lang="en-US" dirty="0" err="1"/>
              <a:t>wrapWidth</a:t>
            </a:r>
            <a:r>
              <a:rPr lang="en-US" dirty="0"/>
              <a:t> 220</a:t>
            </a:r>
            <a:endParaRPr lang="fr-FR" dirty="0"/>
          </a:p>
          <a:p>
            <a:r>
              <a:rPr lang="en-US" dirty="0"/>
              <a:t>title DIGICHEESE — </a:t>
            </a:r>
            <a:r>
              <a:rPr lang="en-US" dirty="0" err="1"/>
              <a:t>Schéma</a:t>
            </a:r>
            <a:r>
              <a:rPr lang="en-US" dirty="0"/>
              <a:t> global (</a:t>
            </a:r>
            <a:r>
              <a:rPr lang="en-US" dirty="0" err="1"/>
              <a:t>périmètre</a:t>
            </a:r>
            <a:r>
              <a:rPr lang="en-US" dirty="0"/>
              <a:t> : Gestion des </a:t>
            </a:r>
            <a:r>
              <a:rPr lang="en-US" dirty="0" err="1"/>
              <a:t>colis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' Objectif du </a:t>
            </a:r>
            <a:r>
              <a:rPr lang="en-US" dirty="0" err="1"/>
              <a:t>schéma</a:t>
            </a:r>
            <a:r>
              <a:rPr lang="en-US" dirty="0"/>
              <a:t> (</a:t>
            </a:r>
            <a:r>
              <a:rPr lang="en-US" dirty="0" err="1"/>
              <a:t>réponse</a:t>
            </a:r>
            <a:r>
              <a:rPr lang="en-US" dirty="0"/>
              <a:t> à la question)</a:t>
            </a:r>
            <a:endParaRPr lang="fr-FR" dirty="0"/>
          </a:p>
          <a:p>
            <a:r>
              <a:rPr lang="en-US" dirty="0"/>
              <a:t>' - </a:t>
            </a:r>
            <a:r>
              <a:rPr lang="en-US" dirty="0" err="1"/>
              <a:t>Montrer</a:t>
            </a:r>
            <a:r>
              <a:rPr lang="en-US" dirty="0"/>
              <a:t> les ACTEURS + les GRANDES FONCTIONNALITÉS (macro-modules)</a:t>
            </a:r>
            <a:endParaRPr lang="fr-FR" dirty="0"/>
          </a:p>
          <a:p>
            <a:r>
              <a:rPr lang="en-US" dirty="0"/>
              <a:t>' - </a:t>
            </a:r>
            <a:r>
              <a:rPr lang="en-US" dirty="0" err="1"/>
              <a:t>Montrer</a:t>
            </a:r>
            <a:r>
              <a:rPr lang="en-US" dirty="0"/>
              <a:t> les INTERACTIONS des </a:t>
            </a:r>
            <a:r>
              <a:rPr lang="en-US" dirty="0" err="1"/>
              <a:t>acteurs</a:t>
            </a:r>
            <a:r>
              <a:rPr lang="en-US" dirty="0"/>
              <a:t> (liens </a:t>
            </a:r>
            <a:r>
              <a:rPr lang="en-US" dirty="0" err="1"/>
              <a:t>acteur</a:t>
            </a:r>
            <a:r>
              <a:rPr lang="en-US" dirty="0"/>
              <a:t> -&gt; module)</a:t>
            </a:r>
            <a:endParaRPr lang="fr-FR" dirty="0"/>
          </a:p>
          <a:p>
            <a:r>
              <a:rPr lang="en-US" dirty="0"/>
              <a:t>' - </a:t>
            </a:r>
            <a:r>
              <a:rPr lang="en-US" dirty="0" err="1"/>
              <a:t>Rester</a:t>
            </a:r>
            <a:r>
              <a:rPr lang="en-US" dirty="0"/>
              <a:t> dans le </a:t>
            </a:r>
            <a:r>
              <a:rPr lang="en-US" dirty="0" err="1"/>
              <a:t>périmètre</a:t>
            </a:r>
            <a:r>
              <a:rPr lang="en-US" dirty="0"/>
              <a:t> "gestion des </a:t>
            </a:r>
            <a:r>
              <a:rPr lang="en-US" dirty="0" err="1"/>
              <a:t>colis</a:t>
            </a:r>
            <a:r>
              <a:rPr lang="en-US" dirty="0"/>
              <a:t>" (pas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vue</a:t>
            </a:r>
            <a:r>
              <a:rPr lang="en-US" dirty="0"/>
              <a:t> SI </a:t>
            </a:r>
            <a:r>
              <a:rPr lang="en-US" dirty="0" err="1"/>
              <a:t>complète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' ACTEURS</a:t>
            </a:r>
            <a:endParaRPr lang="fr-FR" dirty="0"/>
          </a:p>
          <a:p>
            <a:r>
              <a:rPr lang="en-US" dirty="0"/>
              <a:t>' NB : distinction entre </a:t>
            </a:r>
            <a:r>
              <a:rPr lang="en-US" dirty="0" err="1"/>
              <a:t>acteurs</a:t>
            </a:r>
            <a:r>
              <a:rPr lang="en-US" dirty="0"/>
              <a:t> INTERNES (</a:t>
            </a:r>
            <a:r>
              <a:rPr lang="en-US" dirty="0" err="1"/>
              <a:t>utilisateurs</a:t>
            </a:r>
            <a:r>
              <a:rPr lang="en-US" dirty="0"/>
              <a:t> du SI) et</a:t>
            </a:r>
            <a:endParaRPr lang="fr-FR" dirty="0"/>
          </a:p>
          <a:p>
            <a:r>
              <a:rPr lang="en-US" dirty="0"/>
              <a:t>'      </a:t>
            </a:r>
            <a:r>
              <a:rPr lang="en-US" dirty="0" err="1"/>
              <a:t>acteurs</a:t>
            </a:r>
            <a:r>
              <a:rPr lang="en-US" dirty="0"/>
              <a:t> EXTERNES (hors SI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interagissant</a:t>
            </a:r>
            <a:r>
              <a:rPr lang="en-US" dirty="0"/>
              <a:t> avec le processus)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actor "</a:t>
            </a:r>
            <a:r>
              <a:rPr lang="en-US" dirty="0" err="1"/>
              <a:t>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" as </a:t>
            </a:r>
            <a:r>
              <a:rPr lang="en-US" dirty="0" err="1"/>
              <a:t>A_OpColis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/>
              <a:t>actor "</a:t>
            </a:r>
            <a:r>
              <a:rPr lang="en-US" dirty="0" err="1"/>
              <a:t>Administrateur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\n(</a:t>
            </a:r>
            <a:r>
              <a:rPr lang="en-US" dirty="0" err="1"/>
              <a:t>profil</a:t>
            </a:r>
            <a:r>
              <a:rPr lang="en-US" dirty="0"/>
              <a:t> admin)\n+ interface PMO" as </a:t>
            </a:r>
            <a:r>
              <a:rPr lang="en-US" dirty="0" err="1"/>
              <a:t>A_Admin</a:t>
            </a:r>
            <a:endParaRPr lang="fr-FR" dirty="0" err="1"/>
          </a:p>
          <a:p>
            <a:r>
              <a:rPr lang="en-US" dirty="0"/>
              <a:t>actor "</a:t>
            </a:r>
            <a:r>
              <a:rPr lang="en-US" dirty="0" err="1"/>
              <a:t>Opérateur</a:t>
            </a:r>
            <a:r>
              <a:rPr lang="en-US" dirty="0"/>
              <a:t> stock\n(</a:t>
            </a:r>
            <a:r>
              <a:rPr lang="en-US" dirty="0" err="1"/>
              <a:t>connexe</a:t>
            </a:r>
            <a:r>
              <a:rPr lang="en-US" dirty="0"/>
              <a:t>)" as </a:t>
            </a:r>
            <a:r>
              <a:rPr lang="en-US" dirty="0" err="1"/>
              <a:t>A_OpStock</a:t>
            </a:r>
            <a:endParaRPr lang="fr-FR" dirty="0" err="1"/>
          </a:p>
          <a:p>
            <a:r>
              <a:rPr lang="en-US" dirty="0"/>
              <a:t>actor "Direction / management\n(</a:t>
            </a:r>
            <a:r>
              <a:rPr lang="en-US" dirty="0" err="1"/>
              <a:t>connexe</a:t>
            </a:r>
            <a:r>
              <a:rPr lang="en-US" dirty="0"/>
              <a:t>)" as </a:t>
            </a:r>
            <a:r>
              <a:rPr lang="en-US" dirty="0" err="1"/>
              <a:t>A_Direction</a:t>
            </a:r>
            <a:endParaRPr lang="fr-FR" dirty="0" err="1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actor "Client final\n(particulier)" as </a:t>
            </a:r>
            <a:r>
              <a:rPr lang="en-US" dirty="0" err="1"/>
              <a:t>A_Client</a:t>
            </a:r>
            <a:endParaRPr lang="fr-FR" dirty="0" err="1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'========================</a:t>
            </a:r>
            <a:endParaRPr lang="fr-FR" dirty="0"/>
          </a:p>
          <a:p>
            <a:r>
              <a:rPr lang="en-US" dirty="0"/>
              <a:t>' </a:t>
            </a:r>
            <a:r>
              <a:rPr lang="en-US" dirty="0" err="1"/>
              <a:t>Systèmes</a:t>
            </a:r>
            <a:r>
              <a:rPr lang="en-US" dirty="0"/>
              <a:t> externes</a:t>
            </a:r>
            <a:endParaRPr lang="fr-FR" dirty="0"/>
          </a:p>
          <a:p>
            <a:r>
              <a:rPr lang="en-US" dirty="0"/>
              <a:t>'========================</a:t>
            </a:r>
            <a:endParaRPr lang="fr-FR" dirty="0"/>
          </a:p>
          <a:p>
            <a:r>
              <a:rPr lang="en-US" dirty="0"/>
              <a:t>component "La Poste" &lt;&lt;Système externe&gt;&gt; as </a:t>
            </a:r>
            <a:r>
              <a:rPr lang="en-US" dirty="0" err="1"/>
              <a:t>EXT_Poste</a:t>
            </a:r>
            <a:endParaRPr lang="fr-FR" dirty="0" err="1"/>
          </a:p>
          <a:p>
            <a:r>
              <a:rPr lang="en-US" dirty="0"/>
              <a:t>component "Site vitrine / marketing" &lt;&lt;Système externe&gt;&gt; as </a:t>
            </a:r>
            <a:r>
              <a:rPr lang="en-US" dirty="0" err="1"/>
              <a:t>EXT_Site</a:t>
            </a:r>
            <a:endParaRPr lang="fr-FR" dirty="0" err="1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' GRANDES FONCTIONNALITÉS (macro-modules) — </a:t>
            </a:r>
            <a:r>
              <a:rPr lang="en-US" dirty="0" err="1"/>
              <a:t>périmètre</a:t>
            </a:r>
            <a:r>
              <a:rPr lang="en-US" dirty="0"/>
              <a:t> </a:t>
            </a:r>
            <a:r>
              <a:rPr lang="en-US" dirty="0" err="1"/>
              <a:t>projet</a:t>
            </a:r>
            <a:endParaRPr lang="fr-FR" dirty="0" err="1"/>
          </a:p>
          <a:p>
            <a:r>
              <a:rPr lang="en-US" dirty="0"/>
              <a:t>'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composant</a:t>
            </a:r>
            <a:r>
              <a:rPr lang="en-US" dirty="0"/>
              <a:t> </a:t>
            </a:r>
            <a:r>
              <a:rPr lang="en-US" dirty="0" err="1"/>
              <a:t>représente</a:t>
            </a:r>
            <a:r>
              <a:rPr lang="en-US" dirty="0"/>
              <a:t> un bloc </a:t>
            </a:r>
            <a:r>
              <a:rPr lang="en-US" dirty="0" err="1"/>
              <a:t>fonctionnel</a:t>
            </a:r>
            <a:r>
              <a:rPr lang="en-US" dirty="0"/>
              <a:t> (pas du </a:t>
            </a:r>
            <a:r>
              <a:rPr lang="en-US" dirty="0" err="1"/>
              <a:t>détail</a:t>
            </a:r>
            <a:r>
              <a:rPr lang="en-US" dirty="0"/>
              <a:t> technique).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package "Système de gestion des </a:t>
            </a:r>
            <a:r>
              <a:rPr lang="en-US" dirty="0" err="1"/>
              <a:t>colis</a:t>
            </a:r>
            <a:r>
              <a:rPr lang="en-US" dirty="0"/>
              <a:t>" as SYS {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  component "Gestion des </a:t>
            </a:r>
            <a:r>
              <a:rPr lang="en-US" dirty="0" err="1"/>
              <a:t>commandes</a:t>
            </a:r>
            <a:r>
              <a:rPr lang="en-US" dirty="0"/>
              <a:t>" as </a:t>
            </a:r>
            <a:r>
              <a:rPr lang="en-US" dirty="0" err="1"/>
              <a:t>C_Commandes</a:t>
            </a:r>
            <a:endParaRPr lang="fr-FR" dirty="0" err="1"/>
          </a:p>
          <a:p>
            <a:r>
              <a:rPr lang="en-US" dirty="0"/>
              <a:t>  component "Gestion des clients" as </a:t>
            </a:r>
            <a:r>
              <a:rPr lang="en-US" dirty="0" err="1"/>
              <a:t>C_Clients</a:t>
            </a:r>
            <a:endParaRPr lang="fr-FR" dirty="0" err="1"/>
          </a:p>
          <a:p>
            <a:r>
              <a:rPr lang="en-US" dirty="0"/>
              <a:t>  component "</a:t>
            </a:r>
            <a:r>
              <a:rPr lang="en-US" dirty="0" err="1"/>
              <a:t>Conditionnement</a:t>
            </a:r>
            <a:r>
              <a:rPr lang="en-US" dirty="0"/>
              <a:t> / </a:t>
            </a:r>
            <a:r>
              <a:rPr lang="en-US" dirty="0" err="1"/>
              <a:t>Emballages</a:t>
            </a:r>
            <a:r>
              <a:rPr lang="en-US" dirty="0"/>
              <a:t>\n(incl. </a:t>
            </a:r>
            <a:r>
              <a:rPr lang="en-US" dirty="0" err="1"/>
              <a:t>affranchissement</a:t>
            </a:r>
            <a:r>
              <a:rPr lang="en-US" dirty="0"/>
              <a:t>)" as </a:t>
            </a:r>
            <a:r>
              <a:rPr lang="en-US" dirty="0" err="1"/>
              <a:t>C_Cond</a:t>
            </a:r>
            <a:endParaRPr lang="fr-FR" dirty="0" err="1"/>
          </a:p>
          <a:p>
            <a:r>
              <a:rPr lang="en-US" dirty="0"/>
              <a:t>  component "Communication client" as </a:t>
            </a:r>
            <a:r>
              <a:rPr lang="en-US" dirty="0" err="1"/>
              <a:t>C_Comm</a:t>
            </a:r>
            <a:endParaRPr lang="fr-FR" dirty="0" err="1"/>
          </a:p>
          <a:p>
            <a:r>
              <a:rPr lang="en-US" dirty="0"/>
              <a:t>  component "</a:t>
            </a:r>
            <a:r>
              <a:rPr lang="en-US" dirty="0" err="1"/>
              <a:t>Statistiques</a:t>
            </a:r>
            <a:r>
              <a:rPr lang="en-US" dirty="0"/>
              <a:t>\n(incl. reporting)" as </a:t>
            </a:r>
            <a:r>
              <a:rPr lang="en-US" dirty="0" err="1"/>
              <a:t>C_Stats</a:t>
            </a:r>
            <a:endParaRPr lang="fr-FR" dirty="0" err="1"/>
          </a:p>
          <a:p>
            <a:r>
              <a:rPr lang="en-US" dirty="0"/>
              <a:t>  component "Gestion des emplacements" as </a:t>
            </a:r>
            <a:r>
              <a:rPr lang="en-US" dirty="0" err="1"/>
              <a:t>C_Empl</a:t>
            </a:r>
            <a:endParaRPr lang="fr-FR" dirty="0" err="1"/>
          </a:p>
          <a:p>
            <a:r>
              <a:rPr lang="en-US" dirty="0"/>
              <a:t>  component "Gestion des stocks" as </a:t>
            </a:r>
            <a:r>
              <a:rPr lang="en-US" dirty="0" err="1"/>
              <a:t>C_Stock</a:t>
            </a:r>
            <a:endParaRPr lang="fr-FR" dirty="0" err="1"/>
          </a:p>
          <a:p>
            <a:r>
              <a:rPr lang="en-US" dirty="0"/>
              <a:t>  component "Administration / </a:t>
            </a:r>
            <a:r>
              <a:rPr lang="en-US" dirty="0" err="1"/>
              <a:t>paramétrage</a:t>
            </a:r>
            <a:r>
              <a:rPr lang="en-US" dirty="0"/>
              <a:t>" as </a:t>
            </a:r>
            <a:r>
              <a:rPr lang="en-US" dirty="0" err="1"/>
              <a:t>C_AdminParam</a:t>
            </a:r>
            <a:endParaRPr lang="fr-FR" dirty="0" err="1"/>
          </a:p>
          <a:p>
            <a:r>
              <a:rPr lang="en-US" dirty="0"/>
              <a:t>}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' INTERACTIONS DES ACTEURS (</a:t>
            </a:r>
            <a:r>
              <a:rPr lang="en-US" dirty="0" err="1"/>
              <a:t>acteur</a:t>
            </a:r>
            <a:r>
              <a:rPr lang="en-US" dirty="0"/>
              <a:t> -&gt; </a:t>
            </a:r>
            <a:r>
              <a:rPr lang="en-US" dirty="0" err="1"/>
              <a:t>fonctionnalité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'--- Client final : agit hors SI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déclenche</a:t>
            </a:r>
            <a:r>
              <a:rPr lang="en-US" dirty="0"/>
              <a:t> le processus métier ---</a:t>
            </a:r>
            <a:endParaRPr lang="fr-FR" dirty="0"/>
          </a:p>
          <a:p>
            <a:r>
              <a:rPr lang="en-US" dirty="0" err="1"/>
              <a:t>A_Client</a:t>
            </a:r>
            <a:r>
              <a:rPr lang="en-US" dirty="0"/>
              <a:t> --&gt; </a:t>
            </a:r>
            <a:r>
              <a:rPr lang="en-US" dirty="0" err="1"/>
              <a:t>EXT_Site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'consulter / </a:t>
            </a:r>
            <a:r>
              <a:rPr lang="en-US" dirty="0" err="1"/>
              <a:t>télécharger</a:t>
            </a:r>
            <a:r>
              <a:rPr lang="en-US" dirty="0"/>
              <a:t>\n(</a:t>
            </a:r>
            <a:r>
              <a:rPr lang="en-US" dirty="0" err="1"/>
              <a:t>collecteur</a:t>
            </a:r>
            <a:r>
              <a:rPr lang="en-US" dirty="0"/>
              <a:t>, </a:t>
            </a:r>
            <a:r>
              <a:rPr lang="en-US" dirty="0" err="1"/>
              <a:t>liste</a:t>
            </a:r>
            <a:r>
              <a:rPr lang="en-US" dirty="0"/>
              <a:t> goodies/points)</a:t>
            </a:r>
            <a:endParaRPr lang="fr-FR" dirty="0"/>
          </a:p>
          <a:p>
            <a:r>
              <a:rPr lang="en-US" dirty="0" err="1"/>
              <a:t>A_Client</a:t>
            </a:r>
            <a:r>
              <a:rPr lang="en-US" dirty="0"/>
              <a:t> --&gt; </a:t>
            </a:r>
            <a:r>
              <a:rPr lang="en-US" dirty="0" err="1"/>
              <a:t>C_Commandes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</a:t>
            </a:r>
            <a:r>
              <a:rPr lang="en-US" dirty="0" err="1"/>
              <a:t>déclencher</a:t>
            </a:r>
            <a:r>
              <a:rPr lang="en-US" dirty="0"/>
              <a:t> </a:t>
            </a:r>
            <a:r>
              <a:rPr lang="en-US" dirty="0" err="1"/>
              <a:t>demande</a:t>
            </a:r>
            <a:r>
              <a:rPr lang="en-US" dirty="0"/>
              <a:t>\n(</a:t>
            </a:r>
            <a:r>
              <a:rPr lang="en-US" dirty="0" err="1"/>
              <a:t>courrier</a:t>
            </a:r>
            <a:r>
              <a:rPr lang="en-US" dirty="0"/>
              <a:t> : points + choix + </a:t>
            </a:r>
            <a:r>
              <a:rPr lang="en-US" dirty="0" err="1"/>
              <a:t>chèque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'--- </a:t>
            </a:r>
            <a:r>
              <a:rPr lang="en-US" dirty="0" err="1"/>
              <a:t>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: </a:t>
            </a:r>
            <a:r>
              <a:rPr lang="en-US" dirty="0" err="1"/>
              <a:t>utilisateur</a:t>
            </a:r>
            <a:r>
              <a:rPr lang="en-US" dirty="0"/>
              <a:t> principal du SI sur le </a:t>
            </a:r>
            <a:r>
              <a:rPr lang="en-US" dirty="0" err="1"/>
              <a:t>périmètre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---</a:t>
            </a:r>
            <a:endParaRPr lang="fr-FR" dirty="0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C_Commandes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 </a:t>
            </a:r>
            <a:r>
              <a:rPr lang="en-US" dirty="0" err="1"/>
              <a:t>saisir</a:t>
            </a:r>
            <a:r>
              <a:rPr lang="en-US" dirty="0"/>
              <a:t> / </a:t>
            </a:r>
            <a:r>
              <a:rPr lang="en-US" dirty="0" err="1"/>
              <a:t>suivre</a:t>
            </a:r>
            <a:r>
              <a:rPr lang="en-US" dirty="0"/>
              <a:t> </a:t>
            </a:r>
            <a:r>
              <a:rPr lang="en-US" dirty="0" err="1"/>
              <a:t>commandes</a:t>
            </a:r>
            <a:endParaRPr lang="fr-FR" dirty="0" err="1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C_Clients</a:t>
            </a:r>
            <a:r>
              <a:rPr lang="en-US" dirty="0"/>
              <a:t> </a:t>
            </a:r>
            <a:endParaRPr lang="fr-FR" dirty="0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C_Cond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'lancer </a:t>
            </a:r>
            <a:r>
              <a:rPr lang="en-US" dirty="0" err="1"/>
              <a:t>conditionnement</a:t>
            </a:r>
            <a:r>
              <a:rPr lang="en-US" dirty="0"/>
              <a:t>\n&amp; </a:t>
            </a:r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affranchissement</a:t>
            </a:r>
            <a:endParaRPr lang="fr-FR" dirty="0" err="1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C_Comm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'mailing / emails</a:t>
            </a:r>
            <a:endParaRPr lang="fr-FR" dirty="0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C_Stats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'consulter / </a:t>
            </a:r>
            <a:r>
              <a:rPr lang="en-US" dirty="0" err="1"/>
              <a:t>produire</a:t>
            </a:r>
            <a:r>
              <a:rPr lang="en-US" dirty="0"/>
              <a:t> stats</a:t>
            </a:r>
            <a:endParaRPr lang="fr-FR" dirty="0"/>
          </a:p>
          <a:p>
            <a:r>
              <a:rPr lang="en-US" dirty="0" err="1"/>
              <a:t>A_OpColis</a:t>
            </a:r>
            <a:r>
              <a:rPr lang="en-US" dirty="0"/>
              <a:t> --&gt; </a:t>
            </a:r>
            <a:r>
              <a:rPr lang="en-US" dirty="0" err="1"/>
              <a:t>C_Empl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</a:t>
            </a:r>
            <a:r>
              <a:rPr lang="en-US" dirty="0" err="1"/>
              <a:t>renseigner</a:t>
            </a:r>
            <a:r>
              <a:rPr lang="en-US" dirty="0"/>
              <a:t> / consulter\n(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activé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'--- </a:t>
            </a:r>
            <a:r>
              <a:rPr lang="en-US" dirty="0" err="1"/>
              <a:t>Opérateur</a:t>
            </a:r>
            <a:r>
              <a:rPr lang="en-US" dirty="0"/>
              <a:t> stock : </a:t>
            </a:r>
            <a:r>
              <a:rPr lang="en-US" dirty="0" err="1"/>
              <a:t>connexe</a:t>
            </a:r>
            <a:r>
              <a:rPr lang="en-US" dirty="0"/>
              <a:t>, </a:t>
            </a:r>
            <a:r>
              <a:rPr lang="en-US" dirty="0" err="1"/>
              <a:t>alimente</a:t>
            </a:r>
            <a:r>
              <a:rPr lang="en-US" dirty="0"/>
              <a:t>/</a:t>
            </a:r>
            <a:r>
              <a:rPr lang="en-US" dirty="0" err="1"/>
              <a:t>contrôle</a:t>
            </a:r>
            <a:r>
              <a:rPr lang="en-US" dirty="0"/>
              <a:t> les </a:t>
            </a:r>
            <a:r>
              <a:rPr lang="en-US" dirty="0" err="1"/>
              <a:t>disponibilités</a:t>
            </a:r>
            <a:r>
              <a:rPr lang="en-US" dirty="0"/>
              <a:t> goodies ---</a:t>
            </a:r>
            <a:endParaRPr lang="fr-FR" dirty="0"/>
          </a:p>
          <a:p>
            <a:r>
              <a:rPr lang="en-US" dirty="0" err="1"/>
              <a:t>A_OpStock</a:t>
            </a:r>
            <a:r>
              <a:rPr lang="en-US" dirty="0"/>
              <a:t> --&gt; </a:t>
            </a:r>
            <a:r>
              <a:rPr lang="en-US" dirty="0" err="1"/>
              <a:t>C_Stock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</a:t>
            </a:r>
            <a:r>
              <a:rPr lang="en-US" dirty="0" err="1"/>
              <a:t>gérer</a:t>
            </a:r>
            <a:r>
              <a:rPr lang="en-US" dirty="0"/>
              <a:t> stocks &amp; </a:t>
            </a:r>
            <a:r>
              <a:rPr lang="en-US" dirty="0" err="1"/>
              <a:t>inventaires</a:t>
            </a:r>
            <a:endParaRPr lang="fr-FR" dirty="0" err="1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'--- </a:t>
            </a:r>
            <a:r>
              <a:rPr lang="en-US" dirty="0" err="1"/>
              <a:t>Administrateur</a:t>
            </a:r>
            <a:r>
              <a:rPr lang="en-US" dirty="0"/>
              <a:t> : </a:t>
            </a:r>
            <a:r>
              <a:rPr lang="en-US" dirty="0" err="1"/>
              <a:t>paramétrage</a:t>
            </a:r>
            <a:r>
              <a:rPr lang="en-US" dirty="0"/>
              <a:t> + production de reporting (</a:t>
            </a:r>
            <a:r>
              <a:rPr lang="en-US" dirty="0" err="1"/>
              <a:t>rôle</a:t>
            </a:r>
            <a:r>
              <a:rPr lang="en-US" dirty="0"/>
              <a:t> “PMO”) ---</a:t>
            </a:r>
            <a:endParaRPr lang="fr-FR" dirty="0"/>
          </a:p>
          <a:p>
            <a:r>
              <a:rPr lang="en-US" dirty="0" err="1"/>
              <a:t>A_Admin</a:t>
            </a:r>
            <a:r>
              <a:rPr lang="en-US" dirty="0"/>
              <a:t> --&gt; </a:t>
            </a:r>
            <a:r>
              <a:rPr lang="en-US" dirty="0" err="1"/>
              <a:t>C_AdminParam</a:t>
            </a:r>
            <a:r>
              <a:rPr lang="en-US" dirty="0"/>
              <a:t> 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</a:t>
            </a:r>
            <a:r>
              <a:rPr lang="en-US" dirty="0" err="1"/>
              <a:t>maintenir</a:t>
            </a:r>
            <a:r>
              <a:rPr lang="en-US" dirty="0"/>
              <a:t> </a:t>
            </a:r>
            <a:r>
              <a:rPr lang="en-US" dirty="0" err="1"/>
              <a:t>référentiels</a:t>
            </a:r>
            <a:r>
              <a:rPr lang="en-US" dirty="0"/>
              <a:t>\n(</a:t>
            </a:r>
            <a:r>
              <a:rPr lang="en-US" dirty="0" err="1"/>
              <a:t>règles</a:t>
            </a:r>
            <a:r>
              <a:rPr lang="en-US" dirty="0"/>
              <a:t>, </a:t>
            </a:r>
            <a:r>
              <a:rPr lang="en-US" dirty="0" err="1"/>
              <a:t>poids</a:t>
            </a:r>
            <a:r>
              <a:rPr lang="en-US" dirty="0"/>
              <a:t>, </a:t>
            </a:r>
            <a:r>
              <a:rPr lang="en-US" dirty="0" err="1"/>
              <a:t>tarifs</a:t>
            </a:r>
            <a:r>
              <a:rPr lang="en-US" dirty="0"/>
              <a:t>, etc.)</a:t>
            </a:r>
            <a:endParaRPr lang="fr-FR" dirty="0"/>
          </a:p>
          <a:p>
            <a:r>
              <a:rPr lang="en-US" dirty="0" err="1"/>
              <a:t>A_Admin</a:t>
            </a:r>
            <a:r>
              <a:rPr lang="en-US" dirty="0"/>
              <a:t> --&gt; </a:t>
            </a:r>
            <a:r>
              <a:rPr lang="en-US" dirty="0" err="1"/>
              <a:t>C_Stats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'</a:t>
            </a:r>
            <a:r>
              <a:rPr lang="en-US" dirty="0" err="1"/>
              <a:t>extraire</a:t>
            </a:r>
            <a:r>
              <a:rPr lang="en-US" dirty="0"/>
              <a:t> / </a:t>
            </a:r>
            <a:r>
              <a:rPr lang="en-US" dirty="0" err="1"/>
              <a:t>produire</a:t>
            </a:r>
            <a:r>
              <a:rPr lang="en-US" dirty="0"/>
              <a:t>\</a:t>
            </a:r>
            <a:r>
              <a:rPr lang="en-US" dirty="0" err="1"/>
              <a:t>nrapports</a:t>
            </a:r>
            <a:r>
              <a:rPr lang="en-US" dirty="0"/>
              <a:t> pour la Direction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'--- Direction : ne </a:t>
            </a:r>
            <a:r>
              <a:rPr lang="en-US" dirty="0" err="1"/>
              <a:t>manipule</a:t>
            </a:r>
            <a:r>
              <a:rPr lang="en-US" dirty="0"/>
              <a:t> pas le SI </a:t>
            </a:r>
            <a:r>
              <a:rPr lang="en-US" dirty="0" err="1"/>
              <a:t>directement</a:t>
            </a:r>
            <a:r>
              <a:rPr lang="en-US" dirty="0"/>
              <a:t>, passe par </a:t>
            </a:r>
            <a:r>
              <a:rPr lang="en-US" dirty="0" err="1"/>
              <a:t>l’Admin</a:t>
            </a:r>
            <a:r>
              <a:rPr lang="en-US" dirty="0"/>
              <a:t> ---</a:t>
            </a:r>
            <a:endParaRPr lang="fr-FR" dirty="0"/>
          </a:p>
          <a:p>
            <a:r>
              <a:rPr lang="en-US" dirty="0"/>
              <a:t>' (On </a:t>
            </a:r>
            <a:r>
              <a:rPr lang="en-US" dirty="0" err="1"/>
              <a:t>relie</a:t>
            </a:r>
            <a:r>
              <a:rPr lang="en-US" dirty="0"/>
              <a:t> la Direction aux </a:t>
            </a:r>
            <a:r>
              <a:rPr lang="en-US" dirty="0" err="1"/>
              <a:t>Statistiques</a:t>
            </a:r>
            <a:r>
              <a:rPr lang="en-US" dirty="0"/>
              <a:t> avec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précision</a:t>
            </a:r>
            <a:r>
              <a:rPr lang="en-US" dirty="0"/>
              <a:t> "via Admin")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 err="1"/>
              <a:t>A_Direction</a:t>
            </a:r>
            <a:r>
              <a:rPr lang="en-US" dirty="0"/>
              <a:t> --&gt; </a:t>
            </a:r>
            <a:r>
              <a:rPr lang="en-US" dirty="0" err="1"/>
              <a:t>A_Admin</a:t>
            </a:r>
            <a:r>
              <a:rPr lang="en-US" dirty="0"/>
              <a:t> : </a:t>
            </a:r>
            <a:r>
              <a:rPr lang="en-US" dirty="0" err="1"/>
              <a:t>Repporting</a:t>
            </a:r>
            <a:endParaRPr lang="fr-FR" dirty="0" err="1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' DÉPENDANCES EXTERNES STRUCTURANTES</a:t>
            </a:r>
            <a:endParaRPr lang="fr-FR" dirty="0"/>
          </a:p>
          <a:p>
            <a:r>
              <a:rPr lang="en-US" dirty="0"/>
              <a:t>' (sans </a:t>
            </a:r>
            <a:r>
              <a:rPr lang="en-US" dirty="0" err="1"/>
              <a:t>entrer</a:t>
            </a:r>
            <a:r>
              <a:rPr lang="en-US" dirty="0"/>
              <a:t> dans le </a:t>
            </a:r>
            <a:r>
              <a:rPr lang="en-US" dirty="0" err="1"/>
              <a:t>détail</a:t>
            </a:r>
            <a:r>
              <a:rPr lang="en-US" dirty="0"/>
              <a:t> technique)</a:t>
            </a:r>
            <a:endParaRPr lang="fr-FR" dirty="0"/>
          </a:p>
          <a:p>
            <a:r>
              <a:rPr lang="en-US" dirty="0"/>
              <a:t>'============================================================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' </a:t>
            </a:r>
            <a:r>
              <a:rPr lang="en-US" dirty="0" err="1"/>
              <a:t>Conditionnement</a:t>
            </a:r>
            <a:r>
              <a:rPr lang="en-US" dirty="0"/>
              <a:t>/</a:t>
            </a:r>
            <a:r>
              <a:rPr lang="en-US" dirty="0" err="1"/>
              <a:t>affranchissement</a:t>
            </a:r>
            <a:r>
              <a:rPr lang="en-US" dirty="0"/>
              <a:t> </a:t>
            </a:r>
            <a:r>
              <a:rPr lang="en-US" dirty="0" err="1"/>
              <a:t>dépend</a:t>
            </a:r>
            <a:r>
              <a:rPr lang="en-US" dirty="0"/>
              <a:t> de La Poste (</a:t>
            </a:r>
            <a:r>
              <a:rPr lang="en-US" dirty="0" err="1"/>
              <a:t>tarifs</a:t>
            </a:r>
            <a:r>
              <a:rPr lang="en-US" dirty="0"/>
              <a:t> + </a:t>
            </a:r>
            <a:r>
              <a:rPr lang="en-US" dirty="0" err="1"/>
              <a:t>suivi</a:t>
            </a:r>
            <a:r>
              <a:rPr lang="en-US" dirty="0"/>
              <a:t>)</a:t>
            </a:r>
            <a:endParaRPr lang="fr-FR" dirty="0"/>
          </a:p>
          <a:p>
            <a:r>
              <a:rPr lang="en-US" dirty="0" err="1"/>
              <a:t>C_Cond</a:t>
            </a:r>
            <a:r>
              <a:rPr lang="en-US" dirty="0"/>
              <a:t> --&gt; </a:t>
            </a:r>
            <a:r>
              <a:rPr lang="en-US" dirty="0" err="1"/>
              <a:t>EXT_Poste</a:t>
            </a:r>
            <a:r>
              <a:rPr lang="en-US" dirty="0"/>
              <a:t>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@enduml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B0C96-F28B-47D0-B27F-41EB708C5A1A}" type="slidenum">
              <a:rPr lang="fr-FR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7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5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6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3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7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4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0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2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1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92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03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endParaRPr lang="fr-FR" sz="4800">
              <a:solidFill>
                <a:srgbClr val="FFFFFF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295039-9FDB-7AB0-89EC-5AB82FFD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Déterminer les acteurs et décrire leurs rôles respectifs.</a:t>
            </a:r>
          </a:p>
        </p:txBody>
      </p:sp>
      <p:graphicFrame>
        <p:nvGraphicFramePr>
          <p:cNvPr id="12" name="Espace réservé du contenu 11">
            <a:extLst>
              <a:ext uri="{FF2B5EF4-FFF2-40B4-BE49-F238E27FC236}">
                <a16:creationId xmlns:a16="http://schemas.microsoft.com/office/drawing/2014/main" id="{AA2DBE7B-D189-0D92-4AB6-16FF6C16F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470784"/>
              </p:ext>
            </p:extLst>
          </p:nvPr>
        </p:nvGraphicFramePr>
        <p:xfrm>
          <a:off x="838200" y="1825625"/>
          <a:ext cx="10512622" cy="3684270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1941869">
                  <a:extLst>
                    <a:ext uri="{9D8B030D-6E8A-4147-A177-3AD203B41FA5}">
                      <a16:colId xmlns:a16="http://schemas.microsoft.com/office/drawing/2014/main" val="3844038666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3384162421"/>
                    </a:ext>
                  </a:extLst>
                </a:gridCol>
                <a:gridCol w="7108205">
                  <a:extLst>
                    <a:ext uri="{9D8B030D-6E8A-4147-A177-3AD203B41FA5}">
                      <a16:colId xmlns:a16="http://schemas.microsoft.com/office/drawing/2014/main" val="24775616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niveau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Rôles</a:t>
                      </a: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21637366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Client final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 principaux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initier une demande de goodies en envoyant un courrier à la fromagerie</a:t>
                      </a:r>
                      <a:endParaRPr lang="fr-FR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2740366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Opérateur colis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 principaux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traiter les courriers entrants, saisir/mettre à jour les données et piloter la préparation et l’expédition des colis.</a:t>
                      </a:r>
                      <a:endParaRPr lang="fr-FR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9540876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Administrateur du système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 principaux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administrer et maintenir les référentiels nécessaires au bon fonctionnement.</a:t>
                      </a:r>
                      <a:endParaRPr lang="fr-FR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87203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Opérateur stock</a:t>
                      </a:r>
                      <a:endParaRPr lang="fr-FR" sz="2000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 secondaire</a:t>
                      </a:r>
                      <a:endParaRPr lang="fr-FR" sz="2000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gérer les stocks de goodies et les inventaires (fonction présente dans l’outil historique).</a:t>
                      </a:r>
                      <a:endParaRPr lang="fr-FR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612388182"/>
                  </a:ext>
                </a:extLst>
              </a:tr>
              <a:tr h="2212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Poste</a:t>
                      </a:r>
                      <a:endParaRPr lang="fr-FR" sz="2000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Acteurs secondaire</a:t>
                      </a:r>
                      <a:endParaRPr lang="fr-FR" sz="2000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assurer l’acheminement et fournir les informations nécessaires à l’expédition.</a:t>
                      </a:r>
                      <a:endParaRPr lang="fr-FR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1534755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8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769A-1B36-A43A-68B6-548C076D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FBD80-B157-7BF0-8EDC-A01BDDE1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+mj-lt"/>
                <a:cs typeface="+mj-lt"/>
              </a:rPr>
              <a:t>Acteurs principaux (gestion des colis)</a:t>
            </a:r>
            <a:r>
              <a:rPr lang="fr-FR" dirty="0"/>
              <a:t>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55CDC0-CC92-0B5E-F9C5-9AB5ECEDE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Client final (particulier)</a:t>
            </a:r>
            <a:endParaRPr lang="fr-FR" dirty="0">
              <a:solidFill>
                <a:srgbClr val="000000"/>
              </a:solidFill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Déclenche la demande (courrier : points + choix + chèque)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Consulte le site vitrine (collecteur, liste goodies/points)</a:t>
            </a:r>
            <a:endParaRPr lang="fr-FR" dirty="0"/>
          </a:p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Opérateur colis</a:t>
            </a:r>
            <a:endParaRPr lang="fr-FR" dirty="0"/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Traite les courriers, saisit/MAJ les données</a:t>
            </a:r>
            <a:endParaRPr lang="fr-FR"/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Pilote commandes, conditionnement, expédition, stats, mailing/emails, impressions</a:t>
            </a:r>
            <a:endParaRPr lang="fr-FR"/>
          </a:p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Administrateur (profil admin)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Paramètre les référentiels (emballages, poids, règles d’affranchissement, etc.)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Garantit la cohérence des données et des calculs</a:t>
            </a:r>
            <a:endParaRPr lang="fr-FR"/>
          </a:p>
          <a:p>
            <a:endParaRPr lang="fr-FR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4902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9AB3-BC94-14BD-574F-D344A734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F91BDF-8679-A62E-E854-B478DF24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+mj-lt"/>
                <a:cs typeface="+mj-lt"/>
              </a:rPr>
              <a:t>Acteurs connexes &amp; externes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1C92D5-E4BE-13C4-DDDC-D3C83B26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Opérateur stock (connexe)</a:t>
            </a:r>
            <a:endParaRPr lang="fr-FR" dirty="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Gère stocks goodies + inventaires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Impact indirect sur le traitement des commandes (disponibilités)</a:t>
            </a:r>
            <a:endParaRPr lang="fr-FR" dirty="0">
              <a:ea typeface="+mn-lt"/>
              <a:cs typeface="+mn-lt"/>
            </a:endParaRPr>
          </a:p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Direction / management (connexe)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Consulte statistiques/rapports pour le pilotage</a:t>
            </a:r>
            <a:endParaRPr lang="fr-FR" dirty="0"/>
          </a:p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La Poste (externe)</a:t>
            </a:r>
            <a:endParaRPr lang="fr-FR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Fournit tarifs postaux (annuels) + n° de suivi (lettre suivie)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Acteur clé pour affranchissement et suivi</a:t>
            </a:r>
            <a:endParaRPr lang="fr-FR"/>
          </a:p>
          <a:p>
            <a:r>
              <a:rPr lang="fr-FR" b="1" dirty="0">
                <a:solidFill>
                  <a:srgbClr val="000000"/>
                </a:solidFill>
                <a:ea typeface="+mn-lt"/>
                <a:cs typeface="+mn-lt"/>
              </a:rPr>
              <a:t>Site vitrine / marketing (externe)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Collecteur téléchargeable + liste goodies/points à jour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Support amont du processus client</a:t>
            </a:r>
            <a:endParaRPr lang="fr-FR"/>
          </a:p>
          <a:p>
            <a:endParaRPr lang="fr-FR" b="1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8323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E318D-3023-50B5-A696-1F79884C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187FC6-5FFA-2CCD-58B3-47DAD045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11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7F152-0F55-B144-AC08-CEC50203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Grandes fonctionnalités du système “Gestion des colis”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E97977-B9DB-449F-D1C5-11F78208D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Gestion des commandes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Gestion des commandes</a:t>
            </a:r>
            <a:r>
              <a:rPr lang="fr-FR" dirty="0">
                <a:ea typeface="+mn-lt"/>
                <a:cs typeface="+mn-lt"/>
              </a:rPr>
              <a:t> (création / consultation).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Commandes en cours</a:t>
            </a:r>
            <a:r>
              <a:rPr lang="fr-FR" dirty="0">
                <a:ea typeface="+mn-lt"/>
                <a:cs typeface="+mn-lt"/>
              </a:rPr>
              <a:t> + </a:t>
            </a:r>
            <a:r>
              <a:rPr lang="fr-FR" b="1" dirty="0">
                <a:ea typeface="+mn-lt"/>
                <a:cs typeface="+mn-lt"/>
              </a:rPr>
              <a:t>commandes passées</a:t>
            </a:r>
            <a:r>
              <a:rPr lang="fr-FR" dirty="0">
                <a:ea typeface="+mn-lt"/>
                <a:cs typeface="+mn-lt"/>
              </a:rPr>
              <a:t> (affichage par client).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Historisation des mouvements des colis</a:t>
            </a:r>
            <a:r>
              <a:rPr lang="fr-FR" dirty="0">
                <a:ea typeface="+mn-lt"/>
                <a:cs typeface="+mn-lt"/>
              </a:rPr>
              <a:t> (traçabilité).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Notion “</a:t>
            </a:r>
            <a:r>
              <a:rPr lang="fr-FR" b="1" dirty="0">
                <a:ea typeface="+mn-lt"/>
                <a:cs typeface="+mn-lt"/>
              </a:rPr>
              <a:t>lettre suivie</a:t>
            </a:r>
            <a:r>
              <a:rPr lang="fr-FR" dirty="0">
                <a:ea typeface="+mn-lt"/>
                <a:cs typeface="+mn-lt"/>
              </a:rPr>
              <a:t>” : gestion d’un </a:t>
            </a:r>
            <a:r>
              <a:rPr lang="fr-FR" b="1" dirty="0">
                <a:ea typeface="+mn-lt"/>
                <a:cs typeface="+mn-lt"/>
              </a:rPr>
              <a:t>n° de suivi</a:t>
            </a:r>
            <a:r>
              <a:rPr lang="fr-FR" dirty="0">
                <a:ea typeface="+mn-lt"/>
                <a:cs typeface="+mn-lt"/>
              </a:rPr>
              <a:t> (actuellement stocké dans le champ “commentaires” de la commande).</a:t>
            </a:r>
            <a:endParaRPr lang="fr-FR"/>
          </a:p>
          <a:p>
            <a:r>
              <a:rPr lang="fr-FR" dirty="0"/>
              <a:t>Gestion des clients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Liste des clients</a:t>
            </a:r>
            <a:r>
              <a:rPr lang="fr-FR" dirty="0">
                <a:ea typeface="+mn-lt"/>
                <a:cs typeface="+mn-lt"/>
              </a:rPr>
              <a:t> + </a:t>
            </a:r>
            <a:r>
              <a:rPr lang="fr-FR" b="1" dirty="0">
                <a:ea typeface="+mn-lt"/>
                <a:cs typeface="+mn-lt"/>
              </a:rPr>
              <a:t>fiche client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Règles de saisie/contrôle sur la fiche client : champs obligatoires sauf certaines lignes d’adresse + email + newsletter ; sélection </a:t>
            </a:r>
            <a:r>
              <a:rPr lang="fr-FR" b="1" dirty="0">
                <a:ea typeface="+mn-lt"/>
                <a:cs typeface="+mn-lt"/>
              </a:rPr>
              <a:t>code postal puis ville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875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46CCE-2C7D-3244-FF38-55C7B03F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65DA40-EBF1-F79E-ECDA-44167F59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Grandes fonctionnalités du système “Gestion des colis”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6C8522-08BB-EC9E-89E0-C821184CE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 dirty="0"/>
              <a:t>Conditionnement / Emballages (calcul final)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Gestion du conditionnement</a:t>
            </a:r>
            <a:r>
              <a:rPr lang="fr-FR" dirty="0">
                <a:ea typeface="+mn-lt"/>
                <a:cs typeface="+mn-lt"/>
              </a:rPr>
              <a:t> (calcul final).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Liste des emballages</a:t>
            </a:r>
            <a:r>
              <a:rPr lang="fr-FR" dirty="0">
                <a:ea typeface="+mn-lt"/>
                <a:cs typeface="+mn-lt"/>
              </a:rPr>
              <a:t> (modifiable).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Logique de choix du “meilleur emballage” basée sur des critères </a:t>
            </a:r>
            <a:r>
              <a:rPr lang="fr-FR" b="1" dirty="0">
                <a:ea typeface="+mn-lt"/>
                <a:cs typeface="+mn-lt"/>
              </a:rPr>
              <a:t>objet + quantité min/max</a:t>
            </a:r>
            <a:r>
              <a:rPr lang="fr-FR" dirty="0">
                <a:ea typeface="+mn-lt"/>
                <a:cs typeface="+mn-lt"/>
              </a:rPr>
              <a:t>, avec possibilité de </a:t>
            </a:r>
            <a:r>
              <a:rPr lang="fr-FR" b="1" dirty="0">
                <a:ea typeface="+mn-lt"/>
                <a:cs typeface="+mn-lt"/>
              </a:rPr>
              <a:t>plusieurs lignes d’objets</a:t>
            </a:r>
            <a:r>
              <a:rPr lang="fr-FR" dirty="0">
                <a:ea typeface="+mn-lt"/>
                <a:cs typeface="+mn-lt"/>
              </a:rPr>
              <a:t> dans une même commande (donc calcul décrit comme “complexe”).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Administration manuelle des </a:t>
            </a:r>
            <a:r>
              <a:rPr lang="fr-FR" b="1" dirty="0">
                <a:ea typeface="+mn-lt"/>
                <a:cs typeface="+mn-lt"/>
              </a:rPr>
              <a:t>listes d’emballages et modèles</a:t>
            </a:r>
            <a:r>
              <a:rPr lang="fr-FR" dirty="0">
                <a:ea typeface="+mn-lt"/>
                <a:cs typeface="+mn-lt"/>
              </a:rPr>
              <a:t> par type d’article (via profil admin).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/>
              <a:t>Affranchissement (poids → coût) 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 dirty="0"/>
              <a:t>Calcul </a:t>
            </a:r>
            <a:r>
              <a:rPr lang="fr-FR" b="1" dirty="0"/>
              <a:t>automatique du tarif d’affranchissement</a:t>
            </a:r>
            <a:r>
              <a:rPr lang="fr-FR" dirty="0"/>
              <a:t> en fonction du </a:t>
            </a:r>
            <a:r>
              <a:rPr lang="fr-FR" b="1" dirty="0"/>
              <a:t>poids total</a:t>
            </a:r>
            <a:r>
              <a:rPr lang="fr-FR" dirty="0"/>
              <a:t> (emballage + article(s)).</a:t>
            </a:r>
            <a:endParaRPr lang="fr-FR"/>
          </a:p>
          <a:p>
            <a:pPr lvl="2">
              <a:buFont typeface="Wingdings" panose="020B0604020202020204" pitchFamily="34" charset="0"/>
              <a:buChar char="§"/>
            </a:pPr>
            <a:r>
              <a:rPr lang="fr-FR" dirty="0"/>
              <a:t>Référentiels : </a:t>
            </a:r>
            <a:r>
              <a:rPr lang="fr-FR" b="1" dirty="0"/>
              <a:t>relation poids/colis</a:t>
            </a:r>
            <a:r>
              <a:rPr lang="fr-FR" dirty="0"/>
              <a:t> et </a:t>
            </a:r>
            <a:r>
              <a:rPr lang="fr-FR" b="1" dirty="0"/>
              <a:t>relation poids-vignette (affranchissement)/colis</a:t>
            </a:r>
            <a:r>
              <a:rPr lang="fr-FR" dirty="0"/>
              <a:t>.</a:t>
            </a:r>
            <a:endParaRPr lang="fr-FR"/>
          </a:p>
          <a:p>
            <a:pPr lvl="2">
              <a:buFont typeface="Wingdings" panose="020B0604020202020204" pitchFamily="34" charset="0"/>
              <a:buChar char="§"/>
            </a:pPr>
            <a:r>
              <a:rPr lang="fr-FR" b="1" dirty="0"/>
              <a:t>Tarifs postaux</a:t>
            </a:r>
            <a:r>
              <a:rPr lang="fr-FR" dirty="0"/>
              <a:t> : liste issue des tarifs fournis par </a:t>
            </a:r>
            <a:r>
              <a:rPr lang="fr-FR" b="1" dirty="0"/>
              <a:t>La Poste</a:t>
            </a:r>
            <a:r>
              <a:rPr lang="fr-FR" dirty="0"/>
              <a:t> chaque année.</a:t>
            </a:r>
            <a:endParaRPr lang="fr-FR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986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2BC6-C6BB-CEAF-77A2-D6A9F7C7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1EBD33-F977-8D86-A3F0-E5D7D81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Grandes fonctionnalités du système “Gestion des colis”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123E2F-A789-5319-165F-48EF06A43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60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FR" dirty="0"/>
              <a:t>Statistiques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Statistiques</a:t>
            </a:r>
            <a:r>
              <a:rPr lang="fr-FR" dirty="0">
                <a:ea typeface="+mn-lt"/>
                <a:cs typeface="+mn-lt"/>
              </a:rPr>
              <a:t> filtrées par intervalle </a:t>
            </a:r>
            <a:r>
              <a:rPr lang="fr-FR" b="1" dirty="0">
                <a:ea typeface="+mn-lt"/>
                <a:cs typeface="+mn-lt"/>
              </a:rPr>
              <a:t>mois/année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Impressions</a:t>
            </a:r>
            <a:r>
              <a:rPr lang="fr-FR" dirty="0">
                <a:ea typeface="+mn-lt"/>
                <a:cs typeface="+mn-lt"/>
              </a:rPr>
              <a:t> : liste des clients, liste des objets (goodies), liste des commandes d’un client, et “futurs rapports” selon besoin de la direction.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r>
              <a:rPr lang="fr-FR" dirty="0"/>
              <a:t>Communication client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Mailing client</a:t>
            </a:r>
            <a:r>
              <a:rPr lang="fr-FR" dirty="0">
                <a:ea typeface="+mn-lt"/>
                <a:cs typeface="+mn-lt"/>
              </a:rPr>
              <a:t> : génération d’un </a:t>
            </a:r>
            <a:r>
              <a:rPr lang="fr-FR" b="1" dirty="0">
                <a:ea typeface="+mn-lt"/>
                <a:cs typeface="+mn-lt"/>
              </a:rPr>
              <a:t>fichier texte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Emails personnalisés</a:t>
            </a:r>
            <a:r>
              <a:rPr lang="fr-FR" dirty="0">
                <a:ea typeface="+mn-lt"/>
                <a:cs typeface="+mn-lt"/>
              </a:rPr>
              <a:t> : déclenchement et gestion </a:t>
            </a:r>
            <a:r>
              <a:rPr lang="fr-FR" b="1" dirty="0">
                <a:ea typeface="+mn-lt"/>
                <a:cs typeface="+mn-lt"/>
              </a:rPr>
              <a:t>manuels</a:t>
            </a:r>
            <a:r>
              <a:rPr lang="fr-FR" dirty="0">
                <a:ea typeface="+mn-lt"/>
                <a:cs typeface="+mn-lt"/>
              </a:rPr>
              <a:t> selon le cas (et si le client a un email).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Mention aussi de </a:t>
            </a:r>
            <a:r>
              <a:rPr lang="fr-FR" b="1" dirty="0">
                <a:ea typeface="+mn-lt"/>
                <a:cs typeface="+mn-lt"/>
              </a:rPr>
              <a:t>newsletters</a:t>
            </a:r>
            <a:r>
              <a:rPr lang="fr-FR" dirty="0">
                <a:ea typeface="+mn-lt"/>
                <a:cs typeface="+mn-lt"/>
              </a:rPr>
              <a:t> (fonction disponible).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r>
              <a:rPr lang="fr-FR" dirty="0"/>
              <a:t>Gestion des “emplacements”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Fonction “</a:t>
            </a:r>
            <a:r>
              <a:rPr lang="fr-FR" b="1" dirty="0">
                <a:ea typeface="+mn-lt"/>
                <a:cs typeface="+mn-lt"/>
              </a:rPr>
              <a:t>gestion des emplacements</a:t>
            </a:r>
            <a:r>
              <a:rPr lang="fr-FR" dirty="0">
                <a:ea typeface="+mn-lt"/>
                <a:cs typeface="+mn-lt"/>
              </a:rPr>
              <a:t>” : </a:t>
            </a:r>
            <a:r>
              <a:rPr lang="fr-FR" b="1" dirty="0">
                <a:ea typeface="+mn-lt"/>
                <a:cs typeface="+mn-lt"/>
              </a:rPr>
              <a:t>peu/pas utilisée</a:t>
            </a:r>
            <a:r>
              <a:rPr lang="fr-FR" dirty="0">
                <a:ea typeface="+mn-lt"/>
                <a:cs typeface="+mn-lt"/>
              </a:rPr>
              <a:t> actuellement, mais à conserver (objectif futur de rapprochements ventes enseignes ↔ clients collectant des points).</a:t>
            </a: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279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0B35-C35C-E930-A23D-EB8915E8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B0F9D-C445-51DA-8D60-BC259FF4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Grandes fonctionnalités du système “Gestion des colis”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43D53F-E069-DB3D-91D5-C585C53E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b="1" dirty="0">
                <a:ea typeface="+mn-lt"/>
                <a:cs typeface="+mn-lt"/>
              </a:rPr>
              <a:t>Gestion des stocks</a:t>
            </a:r>
            <a:endParaRPr lang="fr-FR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dirty="0">
                <a:ea typeface="+mn-lt"/>
                <a:cs typeface="+mn-lt"/>
              </a:rPr>
              <a:t> de goodies</a:t>
            </a:r>
            <a:r>
              <a:rPr lang="fr-FR" dirty="0">
                <a:ea typeface="+mn-lt"/>
                <a:cs typeface="+mn-lt"/>
              </a:rPr>
              <a:t> + </a:t>
            </a:r>
            <a:r>
              <a:rPr lang="fr-FR" b="1" dirty="0">
                <a:ea typeface="+mn-lt"/>
                <a:cs typeface="+mn-lt"/>
              </a:rPr>
              <a:t>inventaires</a:t>
            </a:r>
            <a:r>
              <a:rPr lang="fr-FR" dirty="0">
                <a:ea typeface="+mn-lt"/>
                <a:cs typeface="+mn-lt"/>
              </a:rPr>
              <a:t>, utilisée par des “opérateurs stock”.</a:t>
            </a:r>
            <a:endParaRPr lang="fr-FR"/>
          </a:p>
          <a:p>
            <a:r>
              <a:rPr lang="fr-FR" b="1" dirty="0">
                <a:ea typeface="+mn-lt"/>
                <a:cs typeface="+mn-lt"/>
              </a:rPr>
              <a:t>Administration/paramétrage</a:t>
            </a:r>
            <a:r>
              <a:rPr lang="fr-FR" dirty="0">
                <a:ea typeface="+mn-lt"/>
                <a:cs typeface="+mn-lt"/>
              </a:rPr>
              <a:t> 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emballages, données de calcul d’affranchissement, poids des articles, etc.</a:t>
            </a:r>
            <a:endParaRPr lang="fr-FR"/>
          </a:p>
          <a:p>
            <a:endParaRPr lang="fr-FR" dirty="0"/>
          </a:p>
          <a:p>
            <a:pPr lvl="1">
              <a:buFont typeface="Courier New" panose="020B0604020202020204" pitchFamily="34" charset="0"/>
              <a:buChar char="o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220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CBE99032-A991-812D-AFB7-285EDF19E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7249" y="643466"/>
            <a:ext cx="733750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E14C2-EB6F-6091-EDDB-5E3FCB05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6DE7DE-12C5-92BA-E7B2-2210E32B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02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11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Office Theme</vt:lpstr>
      <vt:lpstr>Présentation PowerPoint</vt:lpstr>
      <vt:lpstr>Déterminer les acteurs et décrire leurs rôles respectifs.</vt:lpstr>
      <vt:lpstr>Acteurs principaux (gestion des colis).</vt:lpstr>
      <vt:lpstr>Acteurs connexes &amp; externes</vt:lpstr>
      <vt:lpstr>Présentation PowerPoint</vt:lpstr>
      <vt:lpstr>Grandes fonctionnalités du système “Gestion des colis”</vt:lpstr>
      <vt:lpstr>Grandes fonctionnalités du système “Gestion des colis”</vt:lpstr>
      <vt:lpstr>Grandes fonctionnalités du système “Gestion des colis”</vt:lpstr>
      <vt:lpstr>Grandes fonctionnalités du système “Gestion des colis”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173</cp:revision>
  <dcterms:created xsi:type="dcterms:W3CDTF">2026-01-12T09:27:36Z</dcterms:created>
  <dcterms:modified xsi:type="dcterms:W3CDTF">2026-01-12T15:34:50Z</dcterms:modified>
</cp:coreProperties>
</file>